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371600"/>
            <a:ext cx="9144000" cy="73152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  <a:latin typeface="Arial Black"/>
              </a:defRPr>
            </a:pPr>
            <a:r>
              <a:t>数字化平战结合</a:t>
            </a:r>
            <a:br/>
            <a:r>
              <a:t>快速柔性研制中小型无人机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C0CCDA"/>
                </a:solidFill>
                <a:latin typeface="Calibri"/>
              </a:defRPr>
            </a:pPr>
            <a:r>
              <a:t>完整方案策划  |  系统设计框架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680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D4A83C"/>
                </a:solidFill>
                <a:latin typeface="Calibri"/>
              </a:defRPr>
            </a:pPr>
            <a:r>
              <a:t>2026-06-05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总体架构：四层四柱模型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828800" cy="73152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应用层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14300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需求输入 → 方案推荐 → 生产编排 → 质量把关 → 交付调度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18288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管理层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68880" y="210312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AI排产 │ 资源调度 │ 质量管控 │ 供应链协同 │ 战损补充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1828800" cy="7315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06324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执行层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06324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固定产线 │ 移动产线车 │ 分布式加工 │ 模块化装配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1828800" cy="731520"/>
          </a:xfrm>
          <a:prstGeom prst="rect">
            <a:avLst/>
          </a:prstGeom>
          <a:solidFill>
            <a:srgbClr val="2C7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023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基座层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468880" y="4023360"/>
            <a:ext cx="6217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数字孪生 │ PLM │ 模块库 │ 工艺库 │ 知识库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核心目标：平时精干团队+数字基座，战时72小时需求到首架机下线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支柱一：产品数字化 — 全生命周期数字孪生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物理实体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03120" y="105156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实际无人机及子系统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0" y="10515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IMU/气压/电流/温度/振动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64208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755648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虚拟模型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03120" y="1709928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CAD/CAE 高保真仿真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03520" y="1709928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CATIA + CFD/FEA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322576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2414016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孪生数据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2368296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全生命周期数据湖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03520" y="2368296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时序DB + 图DB + 文档库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80944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72384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连接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03120" y="3026664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虚实双向数据通道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0" y="3026664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MQTT + DDS + 5G/卫星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9312"/>
            <a:ext cx="1463040" cy="50292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30752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03120" y="3685032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面向角色应用门户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68503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设计师/工艺师/质检/指挥官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822960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设计迭代 2-4周  |  虚拟验证 ≥85%  |  故障预警 ≥92%  |  数字档案 100%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支柱二：模块化架构 — 6大核心模块族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机身平台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3变体（轻/中/重）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快拆快装 ≤5分钟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0058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0" y="10058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3756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动力模块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5+变体（电/油/混动）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标准动力接口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0058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35040" y="10058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72200" y="11430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飞控模块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1508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2变体（基础/高级）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659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MIL-STD-1553B/CAN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8346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65760" y="28346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任务载荷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10+变体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794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标准挂架+数据总线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0" y="28346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00400" y="28346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33756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通信模块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3变体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337560" y="3794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统一射频接口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35040" y="2834640"/>
            <a:ext cx="2651760" cy="15544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035040" y="2834640"/>
            <a:ext cx="26517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72200" y="29718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1295C"/>
                </a:solidFill>
                <a:latin typeface="Calibri"/>
              </a:defRPr>
            </a:pPr>
            <a:r>
              <a:t>起降模块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72200" y="33375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4变体（轮/橇/垂起/弹射）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79476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标准安装接口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支柱三：快速生产 — 分布式柔性制造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05840"/>
            <a:ext cx="73152" cy="9144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09728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Calibri"/>
              </a:defRPr>
            </a:pPr>
            <a:r>
              <a:t>一级：核心基地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研制+小批量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2801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固定厂房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11430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启动时间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46304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Calibri"/>
              </a:defRPr>
            </a:pPr>
            <a:r>
              <a:t>常驻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103120"/>
            <a:ext cx="822960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103120"/>
            <a:ext cx="73152" cy="9144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1945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5A82"/>
                </a:solidFill>
                <a:latin typeface="Calibri"/>
              </a:defRPr>
            </a:pPr>
            <a:r>
              <a:t>二级：区域中心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560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批量生产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377439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可扩展厂房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240279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启动时间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5603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Calibri"/>
              </a:defRPr>
            </a:pPr>
            <a:r>
              <a:t>48h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2918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C7293"/>
                </a:solidFill>
                <a:latin typeface="Calibri"/>
              </a:defRPr>
            </a:pPr>
            <a:r>
              <a:t>三级：前沿机动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576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应急生产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34747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移动产线车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337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Calibri"/>
              </a:defRPr>
            </a:pPr>
            <a:r>
              <a:t>启动时间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6576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4A83C"/>
                </a:solidFill>
                <a:latin typeface="Calibri"/>
              </a:defRPr>
            </a:pPr>
            <a:r>
              <a:t>12h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29768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移动方舱：展开 ≤2h  |  日产小型 5-8架/中型 2-3架  |  4-6人/舱  |  72h 全流程响应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支柱四：智能流水线 — AI 编排与调度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1965960" cy="1645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19659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430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95C"/>
                </a:solidFill>
                <a:latin typeface="Calibri"/>
              </a:defRPr>
            </a:pPr>
            <a:r>
              <a:t>平时单品种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遗传算法(GA)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7293"/>
                </a:solidFill>
                <a:latin typeface="Calibri"/>
              </a:defRPr>
            </a:pPr>
            <a:r>
              <a:t>全局最优</a:t>
            </a:r>
          </a:p>
        </p:txBody>
      </p:sp>
      <p:sp>
        <p:nvSpPr>
          <p:cNvPr id="9" name="Rectangle 8"/>
          <p:cNvSpPr/>
          <p:nvPr/>
        </p:nvSpPr>
        <p:spPr>
          <a:xfrm>
            <a:off x="2514600" y="1005840"/>
            <a:ext cx="1965960" cy="1645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514600" y="1005840"/>
            <a:ext cx="19659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06040" y="11430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95C"/>
                </a:solidFill>
                <a:latin typeface="Calibri"/>
              </a:defRPr>
            </a:pPr>
            <a:r>
              <a:t>应急多品种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06040" y="1508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CSP + 启发式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2011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7293"/>
                </a:solidFill>
                <a:latin typeface="Calibri"/>
              </a:defRPr>
            </a:pPr>
            <a:r>
              <a:t>秒级响应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1965960" cy="1645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19659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54880" y="11430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95C"/>
                </a:solidFill>
                <a:latin typeface="Calibri"/>
              </a:defRPr>
            </a:pPr>
            <a:r>
              <a:t>高度不确定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508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强化学习(RL)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2011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7293"/>
                </a:solidFill>
                <a:latin typeface="Calibri"/>
              </a:defRPr>
            </a:pPr>
            <a:r>
              <a:t>自适应优化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12280" y="1005840"/>
            <a:ext cx="1965960" cy="164592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812280" y="1005840"/>
            <a:ext cx="1965960" cy="54864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03720" y="114300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1295C"/>
                </a:solidFill>
                <a:latin typeface="Calibri"/>
              </a:defRPr>
            </a:pPr>
            <a:r>
              <a:t>战损补充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03720" y="1508760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D3748"/>
                </a:solidFill>
                <a:latin typeface="Calibri"/>
              </a:defRPr>
            </a:pPr>
            <a:r>
              <a:t>规则引擎+优先级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03720" y="2011680"/>
            <a:ext cx="1783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C7293"/>
                </a:solidFill>
                <a:latin typeface="Calibri"/>
              </a:defRPr>
            </a:pPr>
            <a:r>
              <a:t>抢占式调度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1295C"/>
                </a:solidFill>
                <a:latin typeface="Calibri"/>
              </a:defRPr>
            </a:pPr>
            <a:r>
              <a:t>四屏联动决策看板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3291840"/>
            <a:ext cx="196596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3649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指挥屏：总体进度/风险预警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514600" y="3291840"/>
            <a:ext cx="196596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06040" y="33649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产线屏：工位状态/实时质量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63440" y="3291840"/>
            <a:ext cx="196596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33649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设计屏：变更影响分析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12280" y="3291840"/>
            <a:ext cx="1965960" cy="54864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03720" y="3364992"/>
            <a:ext cx="1783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Calibri"/>
              </a:defRPr>
            </a:pPr>
            <a:r>
              <a:t>保障屏：物料库存/物流追踪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0080" y="4206240"/>
            <a:ext cx="7863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65A82"/>
                </a:solidFill>
                <a:latin typeface="Calibri"/>
              </a:defRPr>
            </a:pPr>
            <a:r>
              <a:t>排产响应 ≤30秒  |  产线换型 ≤30分钟  |  战损补充 ≤24小时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平→战 模式切换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05840"/>
            <a:ext cx="109728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115568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设计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737360" y="11155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精细优化，多方案对比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0515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1115568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95C"/>
                </a:solidFill>
                <a:latin typeface="Calibri"/>
              </a:defRPr>
            </a:pPr>
            <a:r>
              <a:t>参数化模板快速出图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755648"/>
            <a:ext cx="109728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865376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采购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37360" y="18653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招标比价，长周期备料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1801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03520" y="1865376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95C"/>
                </a:solidFill>
                <a:latin typeface="Calibri"/>
              </a:defRPr>
            </a:pPr>
            <a:r>
              <a:t>战储物资+就地取材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505456"/>
            <a:ext cx="109728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2615184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生产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37360" y="261518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固定产线，精益生产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2551176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03520" y="2615184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95C"/>
                </a:solidFill>
                <a:latin typeface="Calibri"/>
              </a:defRPr>
            </a:pPr>
            <a:r>
              <a:t>移动产线+分布式协作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255264"/>
            <a:ext cx="109728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2920" y="3364992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质检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336499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全流程管控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3300984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0" y="3364992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95C"/>
                </a:solidFill>
                <a:latin typeface="Calibri"/>
              </a:defRPr>
            </a:pPr>
            <a:r>
              <a:t>关键项强检+其余抽检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005072"/>
            <a:ext cx="1097280" cy="54864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11480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Calibri"/>
              </a:defRPr>
            </a:pPr>
            <a:r>
              <a:t>交付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37360" y="4114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D3748"/>
                </a:solidFill>
                <a:latin typeface="Calibri"/>
              </a:defRPr>
            </a:pPr>
            <a:r>
              <a:t>常规物流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050791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83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03520" y="411480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1295C"/>
                </a:solidFill>
                <a:latin typeface="Calibri"/>
              </a:defRPr>
            </a:pPr>
            <a:r>
              <a:t>前线直达+空投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86000" y="4572000"/>
            <a:ext cx="4572000" cy="41148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286000" y="46177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Calibri"/>
              </a:defRPr>
            </a:pPr>
            <a:r>
              <a:t>切换时间：≤ 72 小时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实施路线图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2011680" cy="457200"/>
          </a:xfrm>
          <a:prstGeom prst="rect">
            <a:avLst/>
          </a:prstGeom>
          <a:solidFill>
            <a:srgbClr val="1C72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51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1 (0-12月)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280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基础建设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参数化模块设计库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数字孪生基座搭建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一级核心基地产线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模块接口和数据标准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68879" y="1005840"/>
            <a:ext cx="2011680" cy="45720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051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2 (12-24月)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1280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能力验证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全数字化研制验证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移动产线方舱原型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AI排产系统试运行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平→战转换演练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1005840"/>
            <a:ext cx="2011680" cy="45720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54879" y="1051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3 (24-36月)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54879" y="1280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体系成型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79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分布式制造网络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79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移动产线列装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79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L1-L4孪生贯通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79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72h响应实战验证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57999" y="1005840"/>
            <a:ext cx="2011680" cy="457200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39" y="10515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Phase 4 (36+月)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39" y="1280160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持续进化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39" y="16459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模块库持续扩展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49439" y="21031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AI调度持续学习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949439" y="25603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跨单位协同网络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39" y="301752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D3748"/>
                </a:solidFill>
                <a:latin typeface="Calibri"/>
              </a:defRPr>
            </a:pPr>
            <a:r>
              <a:t>• 知识图谱自演化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7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Arial"/>
              </a:defRPr>
            </a:pPr>
            <a:r>
              <a:t>预期成效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8229600" cy="36576"/>
          </a:xfrm>
          <a:prstGeom prst="rect">
            <a:avLst/>
          </a:prstGeom>
          <a:solidFill>
            <a:srgbClr val="D4A8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0584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研制周期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18-24月 → 3-6月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4-8×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0" y="100584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3756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需求到首架机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3756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6-12月 → 72小时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60-120×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00584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72200" y="109728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产线换型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15087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2-3天 → ≤30分钟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0312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100-150×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设计复用率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20-30% → ≥70%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2-3×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0" y="292608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3756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质量追溯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3756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人工纸质 → 100%数字化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3756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质的飞跃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035040" y="2926080"/>
            <a:ext cx="265176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72200" y="30175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C0CCDA"/>
                </a:solidFill>
                <a:latin typeface="Calibri"/>
              </a:defRPr>
            </a:pPr>
            <a:r>
              <a:t>战时产能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3429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C0CCDA"/>
                </a:solidFill>
                <a:latin typeface="Calibri"/>
              </a:defRPr>
            </a:pPr>
            <a:r>
              <a:t>固定 → 3-5×弹性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402336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D4A83C"/>
                </a:solidFill>
                <a:latin typeface="Calibri"/>
              </a:defRPr>
            </a:pPr>
            <a:r>
              <a:t>量级提升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65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Arial"/>
              </a:defRPr>
            </a:pPr>
            <a:r>
              <a:t>风险与对策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8229600" cy="548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51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模块接口标准不统一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05156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4444"/>
                </a:solidFill>
                <a:latin typeface="Calibri"/>
              </a:defRPr>
            </a:pPr>
            <a:r>
              <a:t>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06240" y="105156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前期投入标准制定，参考 GJB/NATO STANAG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627632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数字孪生精度不足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719072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C"/>
                </a:solidFill>
                <a:latin typeface="Calibri"/>
              </a:defRPr>
            </a:pPr>
            <a:r>
              <a:t>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06240" y="1719072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分级策略（L1-L4），渐进提升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295144"/>
            <a:ext cx="8229600" cy="548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386584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移动产线加工精度受限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386584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C"/>
                </a:solidFill>
                <a:latin typeface="Calibri"/>
              </a:defRPr>
            </a:pPr>
            <a:r>
              <a:t>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386584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核心精密件预制备，移动线做组装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962656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5409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战时供应链中断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054096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4444"/>
                </a:solidFill>
                <a:latin typeface="Calibri"/>
              </a:defRPr>
            </a:pPr>
            <a:r>
              <a:t>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0" y="3054096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战略储备+就地取材+3D打印应急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630168"/>
            <a:ext cx="8229600" cy="548640"/>
          </a:xfrm>
          <a:prstGeom prst="rect">
            <a:avLst/>
          </a:prstGeom>
          <a:solidFill>
            <a:srgbClr val="F0F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721607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AI 调度不稳定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3721607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D4A83C"/>
                </a:solidFill>
                <a:latin typeface="Calibri"/>
              </a:defRPr>
            </a:pPr>
            <a:r>
              <a:t>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206240" y="3721607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规则引擎兜底，AI优化层叠加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38912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D3748"/>
                </a:solidFill>
                <a:latin typeface="Calibri"/>
              </a:defRPr>
            </a:pPr>
            <a:r>
              <a:t>人才短缺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4389120"/>
            <a:ext cx="640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04444"/>
                </a:solidFill>
                <a:latin typeface="Calibri"/>
              </a:defRPr>
            </a:pPr>
            <a:r>
              <a:t>高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0" y="438912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D3748"/>
                </a:solidFill>
                <a:latin typeface="Calibri"/>
              </a:defRPr>
            </a:pPr>
            <a:r>
              <a:t>建立培训体系，低代码工具降低门槛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